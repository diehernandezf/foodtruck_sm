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Roboto Bold" charset="1" panose="02000000000000000000"/>
      <p:regular r:id="rId20"/>
    </p:embeddedFont>
    <p:embeddedFont>
      <p:font typeface="Open Sans Bold" charset="1" panose="020B0806030504020204"/>
      <p:regular r:id="rId21"/>
    </p:embeddedFont>
    <p:embeddedFont>
      <p:font typeface="Open Sans" charset="1" panose="020B0606030504020204"/>
      <p:regular r:id="rId22"/>
    </p:embeddedFont>
    <p:embeddedFont>
      <p:font typeface="Roboto" charset="1" panose="02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514350"/>
            <a:ext cx="17259300" cy="9258300"/>
            <a:chOff x="0" y="0"/>
            <a:chExt cx="4545659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5659" cy="2438400"/>
            </a:xfrm>
            <a:custGeom>
              <a:avLst/>
              <a:gdLst/>
              <a:ahLst/>
              <a:cxnLst/>
              <a:rect r="r" b="b" t="t" l="l"/>
              <a:pathLst>
                <a:path h="2438400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45659" cy="249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16481425" y="3075418"/>
            <a:ext cx="0" cy="587352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612036" y="2420937"/>
            <a:ext cx="10472652" cy="2059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22"/>
              </a:lnSpc>
            </a:pPr>
            <a:r>
              <a:rPr lang="en-US" sz="12015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Proyecto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2036" y="3768241"/>
            <a:ext cx="10472652" cy="2059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22"/>
              </a:lnSpc>
            </a:pPr>
            <a:r>
              <a:rPr lang="en-US" sz="12015" b="true">
                <a:solidFill>
                  <a:srgbClr val="5271FF"/>
                </a:solidFill>
                <a:latin typeface="Roboto Bold"/>
                <a:ea typeface="Roboto Bold"/>
                <a:cs typeface="Roboto Bold"/>
                <a:sym typeface="Roboto Bold"/>
              </a:rPr>
              <a:t>ClickSabor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514350"/>
            <a:ext cx="17259300" cy="9258300"/>
            <a:chOff x="0" y="0"/>
            <a:chExt cx="4545659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5659" cy="2438400"/>
            </a:xfrm>
            <a:custGeom>
              <a:avLst/>
              <a:gdLst/>
              <a:ahLst/>
              <a:cxnLst/>
              <a:rect r="r" b="b" t="t" l="l"/>
              <a:pathLst>
                <a:path h="2438400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45659" cy="249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18761" y="4124325"/>
            <a:ext cx="8594970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50"/>
              </a:lnSpc>
              <a:spcBef>
                <a:spcPct val="0"/>
              </a:spcBef>
            </a:pPr>
            <a:r>
              <a:rPr lang="en-US" b="true" sz="75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Integrantes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413731" y="3113405"/>
            <a:ext cx="562629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Diego Hernandez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4505325"/>
            <a:ext cx="8531900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Desarrollador Full Stack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Desarrollo backend y base de datos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Implementacion de interfaz de usuario</a:t>
            </a:r>
          </a:p>
          <a:p>
            <a:pPr algn="l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Integracion con APIs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514350"/>
            <a:ext cx="17259300" cy="9258300"/>
            <a:chOff x="0" y="0"/>
            <a:chExt cx="4545659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5659" cy="2438400"/>
            </a:xfrm>
            <a:custGeom>
              <a:avLst/>
              <a:gdLst/>
              <a:ahLst/>
              <a:cxnLst/>
              <a:rect r="r" b="b" t="t" l="l"/>
              <a:pathLst>
                <a:path h="2438400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45659" cy="249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14350" y="501322"/>
            <a:ext cx="6348228" cy="9271328"/>
            <a:chOff x="0" y="0"/>
            <a:chExt cx="983507" cy="14363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83507" cy="1436371"/>
            </a:xfrm>
            <a:custGeom>
              <a:avLst/>
              <a:gdLst/>
              <a:ahLst/>
              <a:cxnLst/>
              <a:rect r="r" b="b" t="t" l="l"/>
              <a:pathLst>
                <a:path h="1436371" w="983507">
                  <a:moveTo>
                    <a:pt x="0" y="0"/>
                  </a:moveTo>
                  <a:lnTo>
                    <a:pt x="983507" y="0"/>
                  </a:lnTo>
                  <a:lnTo>
                    <a:pt x="983507" y="1436371"/>
                  </a:lnTo>
                  <a:lnTo>
                    <a:pt x="0" y="1436371"/>
                  </a:lnTo>
                  <a:close/>
                </a:path>
              </a:pathLst>
            </a:custGeom>
            <a:blipFill>
              <a:blip r:embed="rId2"/>
              <a:stretch>
                <a:fillRect l="-59602" t="0" r="-59602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514350" y="514350"/>
            <a:ext cx="6348228" cy="9258300"/>
            <a:chOff x="0" y="0"/>
            <a:chExt cx="1671961" cy="2438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71961" cy="2438400"/>
            </a:xfrm>
            <a:custGeom>
              <a:avLst/>
              <a:gdLst/>
              <a:ahLst/>
              <a:cxnLst/>
              <a:rect r="r" b="b" t="t" l="l"/>
              <a:pathLst>
                <a:path h="2438400" w="1671961">
                  <a:moveTo>
                    <a:pt x="0" y="0"/>
                  </a:moveTo>
                  <a:lnTo>
                    <a:pt x="1671961" y="0"/>
                  </a:lnTo>
                  <a:lnTo>
                    <a:pt x="1671961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271FF">
                <a:alpha val="49804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671961" cy="249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7456655" y="1382210"/>
            <a:ext cx="7593299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7650"/>
              </a:lnSpc>
              <a:spcBef>
                <a:spcPct val="0"/>
              </a:spcBef>
            </a:pPr>
            <a:r>
              <a:rPr lang="en-US" b="true" sz="75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Problematica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72964" y="3211607"/>
            <a:ext cx="7593299" cy="4600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90" indent="-345445" lvl="1">
              <a:lnSpc>
                <a:spcPts val="3616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Ausencia de canal digital</a:t>
            </a:r>
          </a:p>
          <a:p>
            <a:pPr algn="just">
              <a:lnSpc>
                <a:spcPts val="3616"/>
              </a:lnSpc>
            </a:pPr>
          </a:p>
          <a:p>
            <a:pPr algn="just" marL="690890" indent="-345445" lvl="1">
              <a:lnSpc>
                <a:spcPts val="3616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Accesibilidad limitada</a:t>
            </a:r>
          </a:p>
          <a:p>
            <a:pPr algn="just">
              <a:lnSpc>
                <a:spcPts val="3616"/>
              </a:lnSpc>
            </a:pPr>
          </a:p>
          <a:p>
            <a:pPr algn="just" marL="690890" indent="-345445" lvl="1">
              <a:lnSpc>
                <a:spcPts val="3616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Limitaciones para escalar ventas</a:t>
            </a:r>
          </a:p>
          <a:p>
            <a:pPr algn="just">
              <a:lnSpc>
                <a:spcPts val="3616"/>
              </a:lnSpc>
            </a:pPr>
          </a:p>
          <a:p>
            <a:pPr algn="just" marL="690890" indent="-345445" lvl="1">
              <a:lnSpc>
                <a:spcPts val="3616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Falta de informacion consolidada</a:t>
            </a:r>
          </a:p>
          <a:p>
            <a:pPr algn="just">
              <a:lnSpc>
                <a:spcPts val="3616"/>
              </a:lnSpc>
            </a:pPr>
          </a:p>
          <a:p>
            <a:pPr algn="just" marL="690890" indent="-345445" lvl="1">
              <a:lnSpc>
                <a:spcPts val="3616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Toma de decisiones sin respaldo de datos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514350"/>
            <a:ext cx="17259300" cy="9258300"/>
            <a:chOff x="0" y="0"/>
            <a:chExt cx="4545659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5659" cy="2438400"/>
            </a:xfrm>
            <a:custGeom>
              <a:avLst/>
              <a:gdLst/>
              <a:ahLst/>
              <a:cxnLst/>
              <a:rect r="r" b="b" t="t" l="l"/>
              <a:pathLst>
                <a:path h="2438400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45659" cy="249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9389138" y="1028700"/>
          <a:ext cx="7263737" cy="8229600"/>
        </p:xfrm>
        <a:graphic>
          <a:graphicData uri="http://schemas.openxmlformats.org/drawingml/2006/table">
            <a:tbl>
              <a:tblPr/>
              <a:tblGrid>
                <a:gridCol w="698661"/>
                <a:gridCol w="254547"/>
                <a:gridCol w="6310529"/>
              </a:tblGrid>
              <a:tr h="2743200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3955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500" strike="noStrike" u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825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3955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Sistema de pedidos en linea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0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3955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500" strike="noStrike" u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825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3955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Dashboard de gestion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0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3955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500" strike="noStrike" u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825"/>
                        </a:lnSpc>
                        <a:spcBef>
                          <a:spcPct val="0"/>
                        </a:spcBef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3955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Sistema de fidelizacion de usuarios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550701" y="1366837"/>
            <a:ext cx="6426626" cy="199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50"/>
              </a:lnSpc>
              <a:spcBef>
                <a:spcPct val="0"/>
              </a:spcBef>
            </a:pPr>
            <a:r>
              <a:rPr lang="en-US" b="true" sz="75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Propuesta de solucion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5772" y="4140564"/>
            <a:ext cx="7896484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Aplicacion web responsiva, que incorpora tres funcionalidades principales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514350"/>
            <a:ext cx="17259300" cy="9258300"/>
            <a:chOff x="0" y="0"/>
            <a:chExt cx="4545659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5659" cy="2438400"/>
            </a:xfrm>
            <a:custGeom>
              <a:avLst/>
              <a:gdLst/>
              <a:ahLst/>
              <a:cxnLst/>
              <a:rect r="r" b="b" t="t" l="l"/>
              <a:pathLst>
                <a:path h="2438400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45659" cy="249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14350" y="1497858"/>
            <a:ext cx="17259300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50"/>
              </a:lnSpc>
              <a:spcBef>
                <a:spcPct val="0"/>
              </a:spcBef>
            </a:pPr>
            <a:r>
              <a:rPr lang="en-US" b="true" sz="75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Objetivo general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22822" y="2743770"/>
            <a:ext cx="15836478" cy="289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Desarrollar una aplicación web que inte</a:t>
            </a: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gre pedidos en línea, un sistema de fidelización de usuarios y un dashboard de gestión, con el fin de ampliar el alcance comercial del local, optimizar la atención al cliente y habilitar la toma de decisiones estratégica basada en datos.</a:t>
            </a:r>
          </a:p>
          <a:p>
            <a:pPr algn="ctr">
              <a:lnSpc>
                <a:spcPts val="462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711411" y="5584125"/>
            <a:ext cx="17259300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140"/>
              </a:lnSpc>
              <a:spcBef>
                <a:spcPct val="0"/>
              </a:spcBef>
            </a:pPr>
            <a:r>
              <a:rPr lang="en-US" b="true" sz="70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Objetivos especificos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2822" y="6629970"/>
            <a:ext cx="15836478" cy="2316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buAutoNum type="arabicPeriod" startAt="1"/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Diseñar arquitectura de la aplicacion web</a:t>
            </a:r>
          </a:p>
          <a:p>
            <a:pPr algn="l" marL="712470" indent="-356235" lvl="1">
              <a:lnSpc>
                <a:spcPts val="4620"/>
              </a:lnSpc>
              <a:buAutoNum type="arabicPeriod" startAt="1"/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Implementar funcionalidad de pedidos en linea</a:t>
            </a:r>
          </a:p>
          <a:p>
            <a:pPr algn="l" marL="712470" indent="-356235" lvl="1">
              <a:lnSpc>
                <a:spcPts val="4620"/>
              </a:lnSpc>
              <a:buAutoNum type="arabicPeriod" startAt="1"/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Desarrollar un sistema de fidelizacion</a:t>
            </a:r>
          </a:p>
          <a:p>
            <a:pPr algn="l" marL="712470" indent="-356235" lvl="1">
              <a:lnSpc>
                <a:spcPts val="4620"/>
              </a:lnSpc>
              <a:buAutoNum type="arabicPeriod" startAt="1"/>
            </a:pPr>
            <a:r>
              <a:rPr lang="en-US" sz="3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Construir un dashboard de gestion con metricas clave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514350"/>
            <a:ext cx="17259300" cy="9258300"/>
            <a:chOff x="0" y="0"/>
            <a:chExt cx="4545659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5659" cy="2438400"/>
            </a:xfrm>
            <a:custGeom>
              <a:avLst/>
              <a:gdLst/>
              <a:ahLst/>
              <a:cxnLst/>
              <a:rect r="r" b="b" t="t" l="l"/>
              <a:pathLst>
                <a:path h="2438400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45659" cy="249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144000" y="2331682"/>
            <a:ext cx="33285" cy="6656978"/>
          </a:xfrm>
          <a:custGeom>
            <a:avLst/>
            <a:gdLst/>
            <a:ahLst/>
            <a:cxnLst/>
            <a:rect r="r" b="b" t="t" l="l"/>
            <a:pathLst>
              <a:path h="6656978" w="33285">
                <a:moveTo>
                  <a:pt x="0" y="0"/>
                </a:moveTo>
                <a:lnTo>
                  <a:pt x="33285" y="0"/>
                </a:lnTo>
                <a:lnTo>
                  <a:pt x="33285" y="6656978"/>
                </a:lnTo>
                <a:lnTo>
                  <a:pt x="0" y="6656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35711" y="804287"/>
            <a:ext cx="15016579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50"/>
              </a:lnSpc>
              <a:spcBef>
                <a:spcPct val="0"/>
              </a:spcBef>
            </a:pPr>
            <a:r>
              <a:rPr lang="en-US" b="true" sz="75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Alcances y limitaciones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500" y="2388470"/>
            <a:ext cx="8115300" cy="658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Alcances</a:t>
            </a:r>
          </a:p>
          <a:p>
            <a:pPr algn="ctr">
              <a:lnSpc>
                <a:spcPts val="4759"/>
              </a:lnSpc>
            </a:pP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Sistema de pedidos en linea con catalogo, carrito, checkout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Integracion con pasarela de pagos (Transbank)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Dashboard de gestion con KPIs claves de las ventas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Sistema de fidelizacion con registro de usuario y asignacion de recompensas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96335" y="2388470"/>
            <a:ext cx="8115300" cy="538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Limitaciones</a:t>
            </a:r>
          </a:p>
          <a:p>
            <a:pPr algn="ctr">
              <a:lnSpc>
                <a:spcPts val="4759"/>
              </a:lnSpc>
            </a:pP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 gestiona inventario</a:t>
            </a:r>
          </a:p>
          <a:p>
            <a:pPr algn="ctr">
              <a:lnSpc>
                <a:spcPts val="4759"/>
              </a:lnSpc>
            </a:pP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 se integra con punto de venta local</a:t>
            </a:r>
          </a:p>
          <a:p>
            <a:pPr algn="ctr">
              <a:lnSpc>
                <a:spcPts val="4759"/>
              </a:lnSpc>
            </a:pP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 incluye sistema de tracking en tiempo real para delivery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514350"/>
            <a:ext cx="17259300" cy="9258300"/>
            <a:chOff x="0" y="0"/>
            <a:chExt cx="4545659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5659" cy="2438400"/>
            </a:xfrm>
            <a:custGeom>
              <a:avLst/>
              <a:gdLst/>
              <a:ahLst/>
              <a:cxnLst/>
              <a:rect r="r" b="b" t="t" l="l"/>
              <a:pathLst>
                <a:path h="2438400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45659" cy="249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12036" y="1114425"/>
            <a:ext cx="8225895" cy="74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09"/>
              </a:lnSpc>
              <a:spcBef>
                <a:spcPct val="0"/>
              </a:spcBef>
            </a:pPr>
            <a:r>
              <a:rPr lang="en-US" b="true" sz="549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Metodologia de trabajo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12036" y="2918656"/>
            <a:ext cx="8225895" cy="74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09"/>
              </a:lnSpc>
              <a:spcBef>
                <a:spcPct val="0"/>
              </a:spcBef>
            </a:pPr>
            <a:r>
              <a:rPr lang="en-US" b="true" sz="549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Desarrollo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2036" y="2129986"/>
            <a:ext cx="8225895" cy="445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11" indent="-323856" lvl="1">
              <a:lnSpc>
                <a:spcPts val="339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Metodologia SCRUM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12036" y="3909671"/>
            <a:ext cx="8225895" cy="6017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11" indent="-323856" lvl="1">
              <a:lnSpc>
                <a:spcPts val="339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Product Backlog con funcionalidades</a:t>
            </a:r>
          </a:p>
          <a:p>
            <a:pPr algn="l">
              <a:lnSpc>
                <a:spcPts val="3390"/>
              </a:lnSpc>
            </a:pPr>
          </a:p>
          <a:p>
            <a:pPr algn="l" marL="647711" indent="-323856" lvl="1">
              <a:lnSpc>
                <a:spcPts val="339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Sprints de 1 semana de duracion</a:t>
            </a:r>
          </a:p>
          <a:p>
            <a:pPr algn="l">
              <a:lnSpc>
                <a:spcPts val="3390"/>
              </a:lnSpc>
            </a:pPr>
          </a:p>
          <a:p>
            <a:pPr algn="l" marL="647711" indent="-323856" lvl="1">
              <a:lnSpc>
                <a:spcPts val="339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Desarrollo incremental de las 3 fases principales</a:t>
            </a:r>
          </a:p>
          <a:p>
            <a:pPr algn="l" marL="1295423" indent="-431808" lvl="2">
              <a:lnSpc>
                <a:spcPts val="339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Sistema pedidos en linea</a:t>
            </a:r>
          </a:p>
          <a:p>
            <a:pPr algn="l" marL="1295423" indent="-431808" lvl="2">
              <a:lnSpc>
                <a:spcPts val="339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Sistema de fidelizacion</a:t>
            </a:r>
          </a:p>
          <a:p>
            <a:pPr algn="l" marL="1295423" indent="-431808" lvl="2">
              <a:lnSpc>
                <a:spcPts val="339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Dashboard de gestion</a:t>
            </a:r>
          </a:p>
          <a:p>
            <a:pPr algn="l">
              <a:lnSpc>
                <a:spcPts val="3390"/>
              </a:lnSpc>
            </a:pPr>
          </a:p>
          <a:p>
            <a:pPr algn="l" marL="647711" indent="-323856" lvl="1">
              <a:lnSpc>
                <a:spcPts val="339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Planificacion al inicio de cada sprint</a:t>
            </a:r>
          </a:p>
          <a:p>
            <a:pPr algn="l">
              <a:lnSpc>
                <a:spcPts val="3390"/>
              </a:lnSpc>
            </a:pPr>
          </a:p>
          <a:p>
            <a:pPr algn="l" marL="647711" indent="-323856" lvl="1">
              <a:lnSpc>
                <a:spcPts val="339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Entregas funcionales al final de cada iteracion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425422" y="514350"/>
            <a:ext cx="6348228" cy="9271328"/>
            <a:chOff x="0" y="0"/>
            <a:chExt cx="983507" cy="14363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83507" cy="1436371"/>
            </a:xfrm>
            <a:custGeom>
              <a:avLst/>
              <a:gdLst/>
              <a:ahLst/>
              <a:cxnLst/>
              <a:rect r="r" b="b" t="t" l="l"/>
              <a:pathLst>
                <a:path h="1436371" w="983507">
                  <a:moveTo>
                    <a:pt x="0" y="0"/>
                  </a:moveTo>
                  <a:lnTo>
                    <a:pt x="983507" y="0"/>
                  </a:lnTo>
                  <a:lnTo>
                    <a:pt x="983507" y="1436371"/>
                  </a:lnTo>
                  <a:lnTo>
                    <a:pt x="0" y="1436371"/>
                  </a:lnTo>
                  <a:close/>
                </a:path>
              </a:pathLst>
            </a:custGeom>
            <a:blipFill>
              <a:blip r:embed="rId2"/>
              <a:stretch>
                <a:fillRect l="-59602" t="0" r="-5960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425422" y="514350"/>
            <a:ext cx="6348228" cy="9258300"/>
            <a:chOff x="0" y="0"/>
            <a:chExt cx="1671961" cy="2438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71961" cy="2438400"/>
            </a:xfrm>
            <a:custGeom>
              <a:avLst/>
              <a:gdLst/>
              <a:ahLst/>
              <a:cxnLst/>
              <a:rect r="r" b="b" t="t" l="l"/>
              <a:pathLst>
                <a:path h="2438400" w="1671961">
                  <a:moveTo>
                    <a:pt x="0" y="0"/>
                  </a:moveTo>
                  <a:lnTo>
                    <a:pt x="1671961" y="0"/>
                  </a:lnTo>
                  <a:lnTo>
                    <a:pt x="1671961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271FF">
                <a:alpha val="49804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671961" cy="249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514350"/>
            <a:ext cx="17259300" cy="9258300"/>
            <a:chOff x="0" y="0"/>
            <a:chExt cx="4545659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5659" cy="2438400"/>
            </a:xfrm>
            <a:custGeom>
              <a:avLst/>
              <a:gdLst/>
              <a:ahLst/>
              <a:cxnLst/>
              <a:rect r="r" b="b" t="t" l="l"/>
              <a:pathLst>
                <a:path h="2438400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45659" cy="249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14350" y="2211916"/>
            <a:ext cx="17259300" cy="7270480"/>
          </a:xfrm>
          <a:custGeom>
            <a:avLst/>
            <a:gdLst/>
            <a:ahLst/>
            <a:cxnLst/>
            <a:rect r="r" b="b" t="t" l="l"/>
            <a:pathLst>
              <a:path h="7270480" w="17259300">
                <a:moveTo>
                  <a:pt x="0" y="0"/>
                </a:moveTo>
                <a:lnTo>
                  <a:pt x="17259300" y="0"/>
                </a:lnTo>
                <a:lnTo>
                  <a:pt x="17259300" y="7270480"/>
                </a:lnTo>
                <a:lnTo>
                  <a:pt x="0" y="72704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35711" y="804287"/>
            <a:ext cx="15016579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50"/>
              </a:lnSpc>
              <a:spcBef>
                <a:spcPct val="0"/>
              </a:spcBef>
            </a:pPr>
            <a:r>
              <a:rPr lang="en-US" b="true" sz="75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Cronograma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514350"/>
            <a:ext cx="17259300" cy="9258300"/>
            <a:chOff x="0" y="0"/>
            <a:chExt cx="4545659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5659" cy="2438400"/>
            </a:xfrm>
            <a:custGeom>
              <a:avLst/>
              <a:gdLst/>
              <a:ahLst/>
              <a:cxnLst/>
              <a:rect r="r" b="b" t="t" l="l"/>
              <a:pathLst>
                <a:path h="2438400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45659" cy="249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228899" y="2760034"/>
            <a:ext cx="11830201" cy="7526966"/>
          </a:xfrm>
          <a:custGeom>
            <a:avLst/>
            <a:gdLst/>
            <a:ahLst/>
            <a:cxnLst/>
            <a:rect r="r" b="b" t="t" l="l"/>
            <a:pathLst>
              <a:path h="7526966" w="11830201">
                <a:moveTo>
                  <a:pt x="0" y="0"/>
                </a:moveTo>
                <a:lnTo>
                  <a:pt x="11830202" y="0"/>
                </a:lnTo>
                <a:lnTo>
                  <a:pt x="11830202" y="7526966"/>
                </a:lnTo>
                <a:lnTo>
                  <a:pt x="0" y="75269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35711" y="804287"/>
            <a:ext cx="15016579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50"/>
              </a:lnSpc>
              <a:spcBef>
                <a:spcPct val="0"/>
              </a:spcBef>
            </a:pPr>
            <a:r>
              <a:rPr lang="en-US" b="true" sz="75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Arquitectura de software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86879" y="1827589"/>
            <a:ext cx="6314242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Diagrama de contexto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514350"/>
            <a:ext cx="17259300" cy="9258300"/>
            <a:chOff x="0" y="0"/>
            <a:chExt cx="4545659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5659" cy="2438400"/>
            </a:xfrm>
            <a:custGeom>
              <a:avLst/>
              <a:gdLst/>
              <a:ahLst/>
              <a:cxnLst/>
              <a:rect r="r" b="b" t="t" l="l"/>
              <a:pathLst>
                <a:path h="2438400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45659" cy="249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728026" y="2599114"/>
            <a:ext cx="9057892" cy="7687886"/>
          </a:xfrm>
          <a:custGeom>
            <a:avLst/>
            <a:gdLst/>
            <a:ahLst/>
            <a:cxnLst/>
            <a:rect r="r" b="b" t="t" l="l"/>
            <a:pathLst>
              <a:path h="7687886" w="9057892">
                <a:moveTo>
                  <a:pt x="0" y="0"/>
                </a:moveTo>
                <a:lnTo>
                  <a:pt x="9057893" y="0"/>
                </a:lnTo>
                <a:lnTo>
                  <a:pt x="9057893" y="7687886"/>
                </a:lnTo>
                <a:lnTo>
                  <a:pt x="0" y="76878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35711" y="804287"/>
            <a:ext cx="15016579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50"/>
              </a:lnSpc>
              <a:spcBef>
                <a:spcPct val="0"/>
              </a:spcBef>
            </a:pPr>
            <a:r>
              <a:rPr lang="en-US" b="true" sz="75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Arquitectura de software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298043" y="1827589"/>
            <a:ext cx="7691914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Diagrama de contenedores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514350"/>
            <a:ext cx="17259300" cy="9258300"/>
            <a:chOff x="0" y="0"/>
            <a:chExt cx="4545659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5659" cy="2438400"/>
            </a:xfrm>
            <a:custGeom>
              <a:avLst/>
              <a:gdLst/>
              <a:ahLst/>
              <a:cxnLst/>
              <a:rect r="r" b="b" t="t" l="l"/>
              <a:pathLst>
                <a:path h="2438400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45659" cy="249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726727" y="1823462"/>
            <a:ext cx="12834545" cy="8182023"/>
          </a:xfrm>
          <a:custGeom>
            <a:avLst/>
            <a:gdLst/>
            <a:ahLst/>
            <a:cxnLst/>
            <a:rect r="r" b="b" t="t" l="l"/>
            <a:pathLst>
              <a:path h="8182023" w="12834545">
                <a:moveTo>
                  <a:pt x="0" y="0"/>
                </a:moveTo>
                <a:lnTo>
                  <a:pt x="12834546" y="0"/>
                </a:lnTo>
                <a:lnTo>
                  <a:pt x="12834546" y="8182022"/>
                </a:lnTo>
                <a:lnTo>
                  <a:pt x="0" y="81820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35711" y="804287"/>
            <a:ext cx="15016579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50"/>
              </a:lnSpc>
              <a:spcBef>
                <a:spcPct val="0"/>
              </a:spcBef>
            </a:pPr>
            <a:r>
              <a:rPr lang="en-US" b="true" sz="75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Modelo de datos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12036" y="1114425"/>
            <a:ext cx="8225895" cy="74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09"/>
              </a:lnSpc>
              <a:spcBef>
                <a:spcPct val="0"/>
              </a:spcBef>
            </a:pPr>
            <a:r>
              <a:rPr lang="en-US" b="true" sz="549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Tecnologias utilizadas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12036" y="2503210"/>
            <a:ext cx="8225895" cy="4974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9" indent="-377829" lvl="1">
              <a:lnSpc>
                <a:spcPts val="3955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Front end</a:t>
            </a:r>
          </a:p>
          <a:p>
            <a:pPr algn="l" marL="1511317" indent="-503772" lvl="2">
              <a:lnSpc>
                <a:spcPts val="3955"/>
              </a:lnSpc>
              <a:buFont typeface="Arial"/>
              <a:buChar char="⚬"/>
            </a:pPr>
            <a:r>
              <a:rPr lang="en-US" sz="3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HTML5</a:t>
            </a:r>
          </a:p>
          <a:p>
            <a:pPr algn="l" marL="1511317" indent="-503772" lvl="2">
              <a:lnSpc>
                <a:spcPts val="3955"/>
              </a:lnSpc>
              <a:buFont typeface="Arial"/>
              <a:buChar char="⚬"/>
            </a:pPr>
            <a:r>
              <a:rPr lang="en-US" sz="3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JavaScript</a:t>
            </a:r>
          </a:p>
          <a:p>
            <a:pPr algn="l" marL="1511317" indent="-503772" lvl="2">
              <a:lnSpc>
                <a:spcPts val="3955"/>
              </a:lnSpc>
              <a:buFont typeface="Arial"/>
              <a:buChar char="⚬"/>
            </a:pPr>
            <a:r>
              <a:rPr lang="en-US" sz="3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Tailwind CSS</a:t>
            </a:r>
          </a:p>
          <a:p>
            <a:pPr algn="l">
              <a:lnSpc>
                <a:spcPts val="3955"/>
              </a:lnSpc>
            </a:pPr>
          </a:p>
          <a:p>
            <a:pPr algn="l" marL="755659" indent="-377829" lvl="1">
              <a:lnSpc>
                <a:spcPts val="3955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Back end</a:t>
            </a:r>
          </a:p>
          <a:p>
            <a:pPr algn="l" marL="1511317" indent="-503772" lvl="2">
              <a:lnSpc>
                <a:spcPts val="3955"/>
              </a:lnSpc>
              <a:buFont typeface="Arial"/>
              <a:buChar char="⚬"/>
            </a:pPr>
            <a:r>
              <a:rPr lang="en-US" sz="3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Django</a:t>
            </a:r>
          </a:p>
          <a:p>
            <a:pPr algn="l">
              <a:lnSpc>
                <a:spcPts val="3955"/>
              </a:lnSpc>
            </a:pPr>
          </a:p>
          <a:p>
            <a:pPr algn="l" marL="755659" indent="-377829" lvl="1">
              <a:lnSpc>
                <a:spcPts val="3955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Base de datos</a:t>
            </a:r>
          </a:p>
          <a:p>
            <a:pPr algn="l" marL="1511317" indent="-503772" lvl="2">
              <a:lnSpc>
                <a:spcPts val="3955"/>
              </a:lnSpc>
              <a:buFont typeface="Arial"/>
              <a:buChar char="⚬"/>
            </a:pPr>
            <a:r>
              <a:rPr lang="en-US" sz="3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SQLite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425422" y="514350"/>
            <a:ext cx="6348228" cy="9271328"/>
            <a:chOff x="0" y="0"/>
            <a:chExt cx="983507" cy="14363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83507" cy="1436371"/>
            </a:xfrm>
            <a:custGeom>
              <a:avLst/>
              <a:gdLst/>
              <a:ahLst/>
              <a:cxnLst/>
              <a:rect r="r" b="b" t="t" l="l"/>
              <a:pathLst>
                <a:path h="1436371" w="983507">
                  <a:moveTo>
                    <a:pt x="0" y="0"/>
                  </a:moveTo>
                  <a:lnTo>
                    <a:pt x="983507" y="0"/>
                  </a:lnTo>
                  <a:lnTo>
                    <a:pt x="983507" y="1436371"/>
                  </a:lnTo>
                  <a:lnTo>
                    <a:pt x="0" y="1436371"/>
                  </a:lnTo>
                  <a:close/>
                </a:path>
              </a:pathLst>
            </a:custGeom>
            <a:blipFill>
              <a:blip r:embed="rId2"/>
              <a:stretch>
                <a:fillRect l="-59602" t="0" r="-59602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25422" y="514350"/>
            <a:ext cx="6348228" cy="9258300"/>
            <a:chOff x="0" y="0"/>
            <a:chExt cx="1671961" cy="2438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71961" cy="2438400"/>
            </a:xfrm>
            <a:custGeom>
              <a:avLst/>
              <a:gdLst/>
              <a:ahLst/>
              <a:cxnLst/>
              <a:rect r="r" b="b" t="t" l="l"/>
              <a:pathLst>
                <a:path h="2438400" w="1671961">
                  <a:moveTo>
                    <a:pt x="0" y="0"/>
                  </a:moveTo>
                  <a:lnTo>
                    <a:pt x="1671961" y="0"/>
                  </a:lnTo>
                  <a:lnTo>
                    <a:pt x="1671961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271FF">
                <a:alpha val="49804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671961" cy="249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514350"/>
            <a:ext cx="17259300" cy="9258300"/>
            <a:chOff x="0" y="0"/>
            <a:chExt cx="4545659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5659" cy="2438400"/>
            </a:xfrm>
            <a:custGeom>
              <a:avLst/>
              <a:gdLst/>
              <a:ahLst/>
              <a:cxnLst/>
              <a:rect r="r" b="b" t="t" l="l"/>
              <a:pathLst>
                <a:path h="2438400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45659" cy="249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419391" y="3373689"/>
            <a:ext cx="11449218" cy="199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50"/>
              </a:lnSpc>
              <a:spcBef>
                <a:spcPct val="0"/>
              </a:spcBef>
            </a:pPr>
            <a:r>
              <a:rPr lang="en-US" b="true" sz="75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EXPOSICION DEL SISTEMA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514350"/>
            <a:ext cx="17259300" cy="9258300"/>
            <a:chOff x="0" y="0"/>
            <a:chExt cx="4545659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5659" cy="2438400"/>
            </a:xfrm>
            <a:custGeom>
              <a:avLst/>
              <a:gdLst/>
              <a:ahLst/>
              <a:cxnLst/>
              <a:rect r="r" b="b" t="t" l="l"/>
              <a:pathLst>
                <a:path h="2438400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545659" cy="2495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419391" y="3373689"/>
            <a:ext cx="11449218" cy="199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50"/>
              </a:lnSpc>
              <a:spcBef>
                <a:spcPct val="0"/>
              </a:spcBef>
            </a:pPr>
            <a:r>
              <a:rPr lang="en-US" b="true" sz="75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PREGUNTAS DE LA COMISION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DAG6lU_A68E</dc:identifier>
  <dcterms:modified xsi:type="dcterms:W3CDTF">2011-08-01T06:04:30Z</dcterms:modified>
  <cp:revision>1</cp:revision>
  <dc:title>Presentación Propuesta de proyecto Minimalista Azul</dc:title>
</cp:coreProperties>
</file>